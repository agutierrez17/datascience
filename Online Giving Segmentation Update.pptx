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84" r:id="rId1"/>
    <p:sldMasterId id="2147484395" r:id="rId2"/>
  </p:sldMasterIdLst>
  <p:notesMasterIdLst>
    <p:notesMasterId r:id="rId27"/>
  </p:notesMasterIdLst>
  <p:handoutMasterIdLst>
    <p:handoutMasterId r:id="rId28"/>
  </p:handoutMasterIdLst>
  <p:sldIdLst>
    <p:sldId id="983" r:id="rId3"/>
    <p:sldId id="1002" r:id="rId4"/>
    <p:sldId id="1013" r:id="rId5"/>
    <p:sldId id="1004" r:id="rId6"/>
    <p:sldId id="1003" r:id="rId7"/>
    <p:sldId id="1009" r:id="rId8"/>
    <p:sldId id="1005" r:id="rId9"/>
    <p:sldId id="1010" r:id="rId10"/>
    <p:sldId id="1011" r:id="rId11"/>
    <p:sldId id="1012" r:id="rId12"/>
    <p:sldId id="1014" r:id="rId13"/>
    <p:sldId id="1015" r:id="rId14"/>
    <p:sldId id="1027" r:id="rId15"/>
    <p:sldId id="1016" r:id="rId16"/>
    <p:sldId id="1017" r:id="rId17"/>
    <p:sldId id="1022" r:id="rId18"/>
    <p:sldId id="1018" r:id="rId19"/>
    <p:sldId id="1023" r:id="rId20"/>
    <p:sldId id="1026" r:id="rId21"/>
    <p:sldId id="1020" r:id="rId22"/>
    <p:sldId id="1021" r:id="rId23"/>
    <p:sldId id="1019" r:id="rId24"/>
    <p:sldId id="1025" r:id="rId25"/>
    <p:sldId id="930" r:id="rId26"/>
  </p:sldIdLst>
  <p:sldSz cx="12192000" cy="6858000"/>
  <p:notesSz cx="6858000" cy="9240838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583" userDrawn="1">
          <p15:clr>
            <a:srgbClr val="A4A3A4"/>
          </p15:clr>
        </p15:guide>
        <p15:guide id="2" orient="horz" pos="3473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871" userDrawn="1">
          <p15:clr>
            <a:srgbClr val="A4A3A4"/>
          </p15:clr>
        </p15:guide>
        <p15:guide id="5" pos="6758" userDrawn="1">
          <p15:clr>
            <a:srgbClr val="A4A3A4"/>
          </p15:clr>
        </p15:guide>
        <p15:guide id="6" pos="8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384D60"/>
    <a:srgbClr val="7AD0E7"/>
    <a:srgbClr val="618FFD"/>
    <a:srgbClr val="3399FF"/>
    <a:srgbClr val="002E8A"/>
    <a:srgbClr val="00297A"/>
    <a:srgbClr val="ABC8F3"/>
    <a:srgbClr val="C8D7E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0412" autoAdjust="0"/>
  </p:normalViewPr>
  <p:slideViewPr>
    <p:cSldViewPr snapToObjects="1">
      <p:cViewPr varScale="1">
        <p:scale>
          <a:sx n="94" d="100"/>
          <a:sy n="94" d="100"/>
        </p:scale>
        <p:origin x="636" y="66"/>
      </p:cViewPr>
      <p:guideLst>
        <p:guide orient="horz" pos="3583"/>
        <p:guide orient="horz" pos="3473"/>
        <p:guide pos="3840"/>
        <p:guide orient="horz" pos="3871"/>
        <p:guide pos="6758"/>
        <p:guide pos="81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011" tIns="43506" rIns="87011" bIns="43506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415" y="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011" tIns="43506" rIns="87011" bIns="435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77788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011" tIns="43506" rIns="87011" bIns="43506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415" y="877788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011" tIns="43506" rIns="87011" bIns="435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4E89E0CC-6229-4D06-A5D9-869C5ACBB62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53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>
            <a:lvl1pPr algn="l" defTabSz="919959" eaLnBrk="1" hangingPunct="1">
              <a:defRPr sz="13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415" y="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>
            <a:lvl1pPr algn="r" defTabSz="919959" eaLnBrk="1" hangingPunct="1">
              <a:defRPr sz="13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9250" y="693738"/>
            <a:ext cx="6159500" cy="3465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6099" y="4389706"/>
            <a:ext cx="5485804" cy="415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77788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979" tIns="45990" rIns="91979" bIns="45990" numCol="1" anchor="b" anchorCtr="0" compatLnSpc="1">
            <a:prstTxWarp prst="textNoShape">
              <a:avLst/>
            </a:prstTxWarp>
          </a:bodyPr>
          <a:lstStyle>
            <a:lvl1pPr algn="l" defTabSz="919959" eaLnBrk="1" hangingPunct="1">
              <a:defRPr sz="13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415" y="8777882"/>
            <a:ext cx="2972098" cy="46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979" tIns="45990" rIns="91979" bIns="45990" numCol="1" anchor="b" anchorCtr="0" compatLnSpc="1">
            <a:prstTxWarp prst="textNoShape">
              <a:avLst/>
            </a:prstTxWarp>
          </a:bodyPr>
          <a:lstStyle>
            <a:lvl1pPr algn="r" defTabSz="919959" eaLnBrk="1" hangingPunct="1">
              <a:defRPr sz="1300">
                <a:latin typeface="Arial" charset="0"/>
              </a:defRPr>
            </a:lvl1pPr>
          </a:lstStyle>
          <a:p>
            <a:fld id="{2EA96C7A-B29E-4C02-8B86-8D39E1564A5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708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96C7A-B29E-4C02-8B86-8D39E1564A56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084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DE51B-E7D2-EB55-E629-99D7A916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FA45A-AEC2-1987-0FC9-134A72542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3CD55-A134-935B-9605-D6AF263BC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Designing samples</a:t>
            </a:r>
          </a:p>
          <a:p>
            <a:r>
              <a:rPr lang="en-US" dirty="0"/>
              <a:t>Exploring data</a:t>
            </a:r>
          </a:p>
          <a:p>
            <a:r>
              <a:rPr lang="en-US" dirty="0"/>
              <a:t>Tests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333E2-BE86-6B43-8A5A-A8B12977E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051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08F1-ACF3-4BC6-CFA9-30FC5F1A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BA777-18BD-2264-E865-4E8D80788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C21D1-FAA9-0A9E-2AF2-2A6B2EC9C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CA256-DF65-09EE-90EA-9B5F17C56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96C7A-B29E-4C02-8B86-8D39E1564A56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103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6F9D-2651-2CD4-2AEB-B725B186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E05EE-E685-A156-AFFA-945DBFD19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D24BD-350E-2375-4392-BA5AAF46A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Designing samples</a:t>
            </a:r>
          </a:p>
          <a:p>
            <a:r>
              <a:rPr lang="en-US" dirty="0"/>
              <a:t>Exploring data</a:t>
            </a:r>
          </a:p>
          <a:p>
            <a:r>
              <a:rPr lang="en-US" dirty="0"/>
              <a:t>Tests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E1CC4-D270-F3E9-34AF-1BAA06292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753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034BC-8E75-2FAF-A0CB-E7C652E3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9A22F-AC86-5DDF-83BC-296108276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66E47-9B36-458B-7D1E-5A723EC05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For each year: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Did they give in general?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Did they give to Heart/Neuro/Cancer/Pediatric?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What did their patient experience look like that year?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What about in the previous year(s)? What was their giving history/patient experience?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C24A4-74D0-AEA9-52F2-CD312346F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43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AC06-B508-B2B9-1A5D-CE03F87D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1361B-EA94-1255-7C3C-3AB51B137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7A886-C11D-CCC1-CC0E-E93B5660B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For each year: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Did they give in general?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Did they give to Heart/Neuro/Cancer/Pediatric?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What did their patient experience look like that year?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What about in the previous year(s)? What was their giving history/patient experience?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47002-55BC-80F9-D3CB-2FACBF178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397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A0C7-1B3C-BEA2-4165-63210D826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B4E8C-E205-3F93-2FBF-7A6099AA1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A329E-0D1F-4539-C44E-7E30B6576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broken out into our giving areas (giving to neuro, pediatric, heart, cancer, cancer non peer-to-peer,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2ED14-BC42-C2D0-9BC8-D9D95507B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15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F2CF-A666-985C-852F-CD3FBF1F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969CF-D6FE-D17D-87D5-5DAFC619F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D2E49-D8E9-15B7-4202-22D2E7E45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broken out into our giving areas (visits to neuro, pediatric (child), heart, cancer,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0B494-A87D-68AC-5A59-11601D6F1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18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CCCC-E79E-419B-E892-DEB147CB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46B22-0D74-5050-DC3B-4EC92639B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75E66-BCA0-5A49-7BCC-6F2918266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broken out into our giving areas (giving to neuro, pediatric, heart, cancer, cancer non peer-to-peer,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3B0B0-3AD8-7DF5-02A6-C260044AB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77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6082-7132-5380-48EB-3DF46C84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8F799-A914-7325-1D71-55E067EEF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25E47-CCDF-CBB7-FD07-415BBD4DF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F7EE2-3CD1-66F3-8306-0A4AECFBB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18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59F1-254F-DC45-1F4F-438ACB4C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3D475-6EB6-FCA6-03EF-844D449EA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E84A9-720C-570A-9592-D88CADB39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61F68-BFA9-C4AC-A236-C301B240C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96C7A-B29E-4C02-8B86-8D39E1564A56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91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8607-E238-BD02-5AD2-85410FC6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48502-C0F9-FA6B-9F69-BE43D65E2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0BBC1-E576-8346-27CD-724E5494D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BCA1F-4C52-980E-1B98-10DC4599A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25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8292-EEFF-CDD2-DA63-49DC6AAF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BE3E0-3247-0A54-7326-89DB5D8FD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35BD0-894C-4AE0-D122-F906FEDAD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949D9-0CC3-A896-6A1C-7953D2846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33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C06E-436B-7609-1E12-2D827E77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467F1-9BBA-9616-81A4-2E9F0893B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5C66E-C7F5-E182-7D68-9F68E2C64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77B79-D116-986B-DE46-9E30628E6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959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6E98-FCDE-FF47-CD5D-45DD3DD2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EABC5-D488-2F3F-15C5-C961E3E50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CB1FF-D89C-D566-80FF-E2B344475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10A10-A5EF-454A-7F05-8F373203D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571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CDBC-88C5-8549-1F9D-C35E40E3C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07DD9-2F9A-BBA7-04C4-C243CC24B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5C6A9-D5A5-E588-E9EE-B6B5DE0DE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EA53D-3A3E-A7DB-83F0-9B4B31A15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043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80A5B-DFBF-42BF-2981-BBE004A1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BF399-8ABA-3D5B-B0CA-B80050268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5F9A1-A379-3CF3-3288-1520A9227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B6A20-8B1D-67DD-A867-89DE03327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98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68A1-7034-3779-0949-C8BFE11C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84772-6A21-3D07-0EC8-8EB70CEE2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1A177-5347-869E-BD7A-68E1DD4C5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AD0AA-6248-03EB-2E03-2CF43A188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76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717D1-79BD-8449-A8CB-EB98AF7B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3A972-E209-D59E-6AD2-28C69AC59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F4E4B-DD70-279C-D0D5-0DE469688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097E-5B51-E0A8-4AD8-118A4374A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285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85A4-51CF-7C6C-6DB8-8573644D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71D40-97BB-5926-9EEE-25285E594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2DF15-52BB-A6F0-6A91-B92A30ED5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7513B-644C-03EF-E75B-74AB55F1E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30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1B82-6A87-312A-63E9-23B32E80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29E36-7C10-68DF-8A93-6D9B33A14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A010A-E786-49CB-A40F-0B4C1E50F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62F3A-B3EA-C71A-C5F5-5839409CE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550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1C08-C157-C54C-66DF-D4F010ED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811B8-4539-1D18-76F3-5054642B3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08F80-D3BD-4B6D-BD59-934440FA8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21A96-2579-D657-2831-6EF855A29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6C7A-B29E-4C02-8B86-8D39E1564A5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930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67C5D-A54E-3FB7-98D2-F0927250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01590-DC15-A79E-A230-B1E036170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854DF-91CF-8580-345A-3F55EC9B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8E0AE-9252-AF70-45D6-ADE6922D9E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96C7A-B29E-4C02-8B86-8D39E1564A56}" type="slidenum">
              <a:rPr lang="en-US" smtClean="0">
                <a:solidFill>
                  <a:srgbClr val="000000"/>
                </a:solidFill>
              </a:rPr>
              <a:pPr/>
              <a:t>23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56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5557" y="941895"/>
            <a:ext cx="9144000" cy="2387600"/>
          </a:xfrm>
        </p:spPr>
        <p:txBody>
          <a:bodyPr anchor="t"/>
          <a:lstStyle>
            <a:lvl1pPr algn="l">
              <a:defRPr sz="6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590" y="2815389"/>
            <a:ext cx="9144000" cy="131144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01AA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455" y="2852381"/>
            <a:ext cx="3159457" cy="31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74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36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76" y="228600"/>
            <a:ext cx="1218882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624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708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85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DMC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t="35463" r="17987" b="39428"/>
          <a:stretch/>
        </p:blipFill>
        <p:spPr bwMode="auto">
          <a:xfrm>
            <a:off x="3072064" y="2434392"/>
            <a:ext cx="6083968" cy="176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764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001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5824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8464" y="1962152"/>
            <a:ext cx="5115983" cy="4156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2152"/>
            <a:ext cx="5115984" cy="4156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41413"/>
          </a:xfr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8855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41413"/>
          </a:xfr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467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41413"/>
          </a:xfr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2652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8418" y="1962151"/>
            <a:ext cx="5115983" cy="4156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2151"/>
            <a:ext cx="5115984" cy="4156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39825"/>
          </a:xfrm>
          <a:prstGeom prst="rect">
            <a:avLst/>
          </a:prstGeo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8420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39825"/>
          </a:xfrm>
          <a:prstGeom prst="rect">
            <a:avLst/>
          </a:prstGeo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5209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39825"/>
          </a:xfrm>
          <a:prstGeom prst="rect">
            <a:avLst/>
          </a:prstGeo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8431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39825"/>
          </a:xfrm>
          <a:prstGeom prst="rect">
            <a:avLst/>
          </a:prstGeo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9182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78418" y="1962151"/>
            <a:ext cx="10435167" cy="41560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39825"/>
          </a:xfrm>
          <a:prstGeom prst="rect">
            <a:avLst/>
          </a:prstGeo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4491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78418" y="1962150"/>
            <a:ext cx="5115983" cy="200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62150"/>
            <a:ext cx="5115984" cy="200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78418" y="4116389"/>
            <a:ext cx="5115983" cy="2001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6389"/>
            <a:ext cx="5115984" cy="2001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228601"/>
            <a:ext cx="12191999" cy="1139825"/>
          </a:xfrm>
          <a:prstGeom prst="rect">
            <a:avLst/>
          </a:prstGeom>
        </p:spPr>
        <p:txBody>
          <a:bodyPr/>
          <a:lstStyle>
            <a:lvl1pPr>
              <a:defRPr sz="54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356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5557" y="941895"/>
            <a:ext cx="9144000" cy="2387600"/>
          </a:xfrm>
        </p:spPr>
        <p:txBody>
          <a:bodyPr anchor="t"/>
          <a:lstStyle>
            <a:lvl1pPr algn="l">
              <a:defRPr sz="6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590" y="2815389"/>
            <a:ext cx="9144000" cy="131144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01AA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455" y="2852381"/>
            <a:ext cx="3159457" cy="31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41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796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76633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2075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9830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0557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DMC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t="35463" r="17987" b="39428"/>
          <a:stretch/>
        </p:blipFill>
        <p:spPr bwMode="auto">
          <a:xfrm>
            <a:off x="3072064" y="2434392"/>
            <a:ext cx="6083968" cy="176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73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9831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0677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419" y="228603"/>
            <a:ext cx="10435167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78419" y="1962152"/>
            <a:ext cx="10435167" cy="41560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45921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238132" y="556321"/>
            <a:ext cx="4286249" cy="247820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>
          <a:xfrm>
            <a:off x="3107267" y="3309939"/>
            <a:ext cx="1507067" cy="192087"/>
          </a:xfrm>
          <a:prstGeom prst="rect">
            <a:avLst/>
          </a:prstGeom>
        </p:spPr>
        <p:txBody>
          <a:bodyPr lIns="44697" tIns="22340" rIns="44697" bIns="22340"/>
          <a:lstStyle>
            <a:lvl1pPr algn="l"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4174067" y="134938"/>
            <a:ext cx="311151" cy="192087"/>
          </a:xfrm>
          <a:prstGeom prst="rect">
            <a:avLst/>
          </a:prstGeom>
        </p:spPr>
        <p:txBody>
          <a:bodyPr lIns="44657" tIns="22317" rIns="44657" bIns="22317"/>
          <a:lstStyle>
            <a:lvl1pPr algn="ctr" eaLnBrk="0" hangingPunct="0">
              <a:defRPr>
                <a:solidFill>
                  <a:prstClr val="black"/>
                </a:solidFill>
                <a:latin typeface="+mn-lt"/>
                <a:cs typeface="Arial" charset="0"/>
              </a:defRPr>
            </a:lvl1pPr>
          </a:lstStyle>
          <a:p>
            <a:pPr>
              <a:defRPr/>
            </a:pPr>
            <a:fld id="{A1A1F46A-DAF4-4EF9-A4AD-BF29A25C1AD1}" type="slidenum">
              <a:rPr lang="en-US" sz="1800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053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8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85" y="4921097"/>
            <a:ext cx="2373575" cy="2373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7531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85" r:id="rId1"/>
    <p:sldLayoutId id="2147484386" r:id="rId2"/>
    <p:sldLayoutId id="2147484387" r:id="rId3"/>
    <p:sldLayoutId id="2147484388" r:id="rId4"/>
    <p:sldLayoutId id="2147484389" r:id="rId5"/>
    <p:sldLayoutId id="2147484390" r:id="rId6"/>
    <p:sldLayoutId id="2147484391" r:id="rId7"/>
    <p:sldLayoutId id="2147484392" r:id="rId8"/>
    <p:sldLayoutId id="2147484393" r:id="rId9"/>
    <p:sldLayoutId id="2147484196" r:id="rId10"/>
    <p:sldLayoutId id="2147484197" r:id="rId11"/>
    <p:sldLayoutId id="2147484198" r:id="rId12"/>
    <p:sldLayoutId id="2147484199" r:id="rId13"/>
    <p:sldLayoutId id="2147484200" r:id="rId14"/>
    <p:sldLayoutId id="2147484201" r:id="rId15"/>
    <p:sldLayoutId id="2147484202" r:id="rId16"/>
    <p:sldLayoutId id="2147484203" r:id="rId17"/>
    <p:sldLayoutId id="214748420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400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-"/>
        <a:defRPr sz="4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6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8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860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8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85" y="4921097"/>
            <a:ext cx="2373575" cy="2373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152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96" r:id="rId1"/>
    <p:sldLayoutId id="2147484397" r:id="rId2"/>
    <p:sldLayoutId id="2147484398" r:id="rId3"/>
    <p:sldLayoutId id="2147484399" r:id="rId4"/>
    <p:sldLayoutId id="2147484400" r:id="rId5"/>
    <p:sldLayoutId id="2147484401" r:id="rId6"/>
    <p:sldLayoutId id="2147484402" r:id="rId7"/>
    <p:sldLayoutId id="2147484403" r:id="rId8"/>
    <p:sldLayoutId id="2147484404" r:id="rId9"/>
    <p:sldLayoutId id="2147484405" r:id="rId10"/>
    <p:sldLayoutId id="214748440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400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2103437"/>
            <a:ext cx="12192000" cy="1325563"/>
          </a:xfrm>
        </p:spPr>
        <p:txBody>
          <a:bodyPr/>
          <a:lstStyle/>
          <a:p>
            <a:r>
              <a:rPr lang="en-US" sz="4400" b="1" dirty="0"/>
              <a:t>Email Area of Interest </a:t>
            </a:r>
            <a:br>
              <a:rPr lang="en-US" sz="4400" b="1" dirty="0"/>
            </a:br>
            <a:r>
              <a:rPr lang="en-US" sz="4400" b="1" dirty="0"/>
              <a:t>Modeling Discussion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DB22-B2AD-F16F-10BB-660DF4EC24F5}"/>
              </a:ext>
            </a:extLst>
          </p:cNvPr>
          <p:cNvSpPr txBox="1"/>
          <p:nvPr/>
        </p:nvSpPr>
        <p:spPr>
          <a:xfrm>
            <a:off x="2938015" y="3810000"/>
            <a:ext cx="62245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ableau Book"/>
              </a:rPr>
              <a:t>Andrew Gutierrez</a:t>
            </a:r>
            <a:endParaRPr lang="en-US" dirty="0">
              <a:effectLst/>
            </a:endParaRPr>
          </a:p>
          <a:p>
            <a:pPr algn="ctr"/>
            <a:r>
              <a:rPr lang="en-US" sz="2400" dirty="0">
                <a:effectLst/>
                <a:latin typeface="Tableau Book"/>
              </a:rPr>
              <a:t>Data Scientist</a:t>
            </a:r>
            <a:endParaRPr lang="en-US" dirty="0">
              <a:effectLst/>
            </a:endParaRPr>
          </a:p>
          <a:p>
            <a:r>
              <a:rPr lang="en-US" sz="2400" dirty="0">
                <a:effectLst/>
                <a:latin typeface="Tableau Book"/>
              </a:rPr>
              <a:t>Cleveland Clinic Philanthropy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12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6D1F-68C2-5942-ACEF-87A658F34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FC15-179E-BCE7-BEA0-E687F0C9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Overview</a:t>
            </a:r>
            <a:r>
              <a:rPr lang="en-US" sz="4000" dirty="0"/>
              <a:t> of the Data Science Process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298BFC7-E993-AE0A-1881-437AAAD21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45"/>
          <a:stretch>
            <a:fillRect/>
          </a:stretch>
        </p:blipFill>
        <p:spPr bwMode="auto">
          <a:xfrm>
            <a:off x="730681" y="2561268"/>
            <a:ext cx="3249622" cy="216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C34D6C5-13FA-6E72-D258-3F39C2DF545D}"/>
              </a:ext>
            </a:extLst>
          </p:cNvPr>
          <p:cNvSpPr txBox="1">
            <a:spLocks/>
          </p:cNvSpPr>
          <p:nvPr/>
        </p:nvSpPr>
        <p:spPr>
          <a:xfrm>
            <a:off x="547284" y="1733454"/>
            <a:ext cx="3702951" cy="7631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latin typeface="+mn-lt"/>
                <a:ea typeface="+mj-lt"/>
                <a:cs typeface="+mj-lt"/>
              </a:rPr>
              <a:t>1. Explore Data and Find Insights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58C50BD-F76E-5C1A-8801-8AFBB76174BA}"/>
              </a:ext>
            </a:extLst>
          </p:cNvPr>
          <p:cNvSpPr txBox="1">
            <a:spLocks/>
          </p:cNvSpPr>
          <p:nvPr/>
        </p:nvSpPr>
        <p:spPr>
          <a:xfrm>
            <a:off x="4531924" y="1687916"/>
            <a:ext cx="3295220" cy="7631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latin typeface="+mn-lt"/>
                <a:ea typeface="+mj-lt"/>
                <a:cs typeface="+mj-lt"/>
              </a:rPr>
              <a:t>2. Build Predictive Model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D6DEF71-43C7-3C2E-B672-7FF981031501}"/>
              </a:ext>
            </a:extLst>
          </p:cNvPr>
          <p:cNvSpPr txBox="1">
            <a:spLocks/>
          </p:cNvSpPr>
          <p:nvPr/>
        </p:nvSpPr>
        <p:spPr>
          <a:xfrm>
            <a:off x="7941765" y="1461494"/>
            <a:ext cx="3702951" cy="7631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latin typeface="+mn-lt"/>
                <a:ea typeface="+mj-lt"/>
                <a:cs typeface="+mj-lt"/>
              </a:rPr>
              <a:t>3. Implementation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0D595BD-F901-CAC0-23C5-1F4DF75F16C2}"/>
              </a:ext>
            </a:extLst>
          </p:cNvPr>
          <p:cNvSpPr/>
          <p:nvPr/>
        </p:nvSpPr>
        <p:spPr>
          <a:xfrm>
            <a:off x="3833223" y="3258530"/>
            <a:ext cx="631371" cy="340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4" descr="Improving the efficiency of your predictive models">
            <a:extLst>
              <a:ext uri="{FF2B5EF4-FFF2-40B4-BE49-F238E27FC236}">
                <a16:creationId xmlns:a16="http://schemas.microsoft.com/office/drawing/2014/main" id="{477262FE-A194-1886-422A-9D5B1676F1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8" t="3924" r="6851" b="3119"/>
          <a:stretch>
            <a:fillRect/>
          </a:stretch>
        </p:blipFill>
        <p:spPr bwMode="auto">
          <a:xfrm>
            <a:off x="4522385" y="2540072"/>
            <a:ext cx="3147229" cy="218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CB51775B-888F-AA75-E140-FFB3F5B8F265}"/>
              </a:ext>
            </a:extLst>
          </p:cNvPr>
          <p:cNvSpPr/>
          <p:nvPr/>
        </p:nvSpPr>
        <p:spPr>
          <a:xfrm>
            <a:off x="7735743" y="3292341"/>
            <a:ext cx="631371" cy="340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6" descr="A PyTorch workflow with added model deployment and monitoring step">
            <a:extLst>
              <a:ext uri="{FF2B5EF4-FFF2-40B4-BE49-F238E27FC236}">
                <a16:creationId xmlns:a16="http://schemas.microsoft.com/office/drawing/2014/main" id="{D91AB9BC-ACA4-B090-B528-7B0AA55547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4" t="25199" r="893" b="14992"/>
          <a:stretch>
            <a:fillRect/>
          </a:stretch>
        </p:blipFill>
        <p:spPr bwMode="auto">
          <a:xfrm>
            <a:off x="8622280" y="2352904"/>
            <a:ext cx="2341919" cy="239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39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59AE-2703-75FB-DA02-AE88612B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592E-3C92-47CA-EBBF-F1899AED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2103437"/>
            <a:ext cx="12192000" cy="1325563"/>
          </a:xfrm>
        </p:spPr>
        <p:txBody>
          <a:bodyPr/>
          <a:lstStyle/>
          <a:p>
            <a:r>
              <a:rPr lang="en-US" sz="4400" dirty="0">
                <a:ea typeface="+mj-lt"/>
                <a:cs typeface="+mj-lt"/>
              </a:rPr>
              <a:t>Part I:</a:t>
            </a:r>
            <a:br>
              <a:rPr lang="en-US" sz="4400" dirty="0">
                <a:solidFill>
                  <a:srgbClr val="FFFF00"/>
                </a:solidFill>
                <a:ea typeface="+mj-lt"/>
                <a:cs typeface="+mj-lt"/>
              </a:rPr>
            </a:br>
            <a:r>
              <a:rPr lang="en-US" sz="4400" b="1" dirty="0">
                <a:solidFill>
                  <a:srgbClr val="FFFF00"/>
                </a:solidFill>
                <a:ea typeface="+mj-lt"/>
                <a:cs typeface="+mj-lt"/>
              </a:rPr>
              <a:t>Setting Up Our Exploration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123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9B45-7236-4695-0B6F-4DB6F6B1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53D3-1712-C717-51A2-C0F3F5313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89052"/>
            <a:ext cx="11785600" cy="671625"/>
          </a:xfrm>
        </p:spPr>
        <p:txBody>
          <a:bodyPr/>
          <a:lstStyle/>
          <a:p>
            <a:r>
              <a:rPr lang="en-US" sz="3200" b="1" dirty="0"/>
              <a:t>Data Analysis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40B6321-EAFE-303F-0ECE-93738C3F9EB8}"/>
              </a:ext>
            </a:extLst>
          </p:cNvPr>
          <p:cNvSpPr txBox="1">
            <a:spLocks/>
          </p:cNvSpPr>
          <p:nvPr/>
        </p:nvSpPr>
        <p:spPr>
          <a:xfrm>
            <a:off x="2687319" y="2683137"/>
            <a:ext cx="3657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sz="2400" dirty="0">
                <a:latin typeface="+mn-lt"/>
                <a:ea typeface="+mj-lt"/>
                <a:cs typeface="+mj-lt"/>
              </a:rPr>
              <a:t>Looking backward;</a:t>
            </a:r>
          </a:p>
          <a:p>
            <a:pPr algn="ctr">
              <a:spcAft>
                <a:spcPts val="1200"/>
              </a:spcAft>
            </a:pPr>
            <a:r>
              <a:rPr lang="en-US" sz="2400" dirty="0">
                <a:latin typeface="+mn-lt"/>
                <a:ea typeface="+mj-lt"/>
                <a:cs typeface="+mj-lt"/>
              </a:rPr>
              <a:t>Telling what happened in the past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3981512-08ED-D4AB-C50E-8480A9530669}"/>
              </a:ext>
            </a:extLst>
          </p:cNvPr>
          <p:cNvSpPr txBox="1">
            <a:spLocks/>
          </p:cNvSpPr>
          <p:nvPr/>
        </p:nvSpPr>
        <p:spPr>
          <a:xfrm>
            <a:off x="5562600" y="4868782"/>
            <a:ext cx="3878581" cy="13696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sz="2400" dirty="0">
                <a:latin typeface="+mn-lt"/>
                <a:ea typeface="+mj-lt"/>
                <a:cs typeface="+mj-lt"/>
              </a:rPr>
              <a:t>Looking ahead;</a:t>
            </a:r>
          </a:p>
          <a:p>
            <a:pPr algn="ctr">
              <a:spcAft>
                <a:spcPts val="1200"/>
              </a:spcAft>
            </a:pPr>
            <a:r>
              <a:rPr lang="en-US" sz="2400" dirty="0">
                <a:latin typeface="+mn-lt"/>
                <a:ea typeface="+mj-lt"/>
                <a:cs typeface="+mj-lt"/>
              </a:rPr>
              <a:t>Trying to predict what will happen in the future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61DAAE7F-75A4-04B8-2C3F-4AAED924EB41}"/>
              </a:ext>
            </a:extLst>
          </p:cNvPr>
          <p:cNvSpPr/>
          <p:nvPr/>
        </p:nvSpPr>
        <p:spPr>
          <a:xfrm>
            <a:off x="6492362" y="2860303"/>
            <a:ext cx="1828800" cy="57359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E2EC7C-9EDE-B789-65AD-B86C40E41C94}"/>
              </a:ext>
            </a:extLst>
          </p:cNvPr>
          <p:cNvSpPr txBox="1">
            <a:spLocks/>
          </p:cNvSpPr>
          <p:nvPr/>
        </p:nvSpPr>
        <p:spPr>
          <a:xfrm>
            <a:off x="228600" y="4225763"/>
            <a:ext cx="11785600" cy="720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b="1" dirty="0"/>
              <a:t>Data Science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82AC94-7533-8454-91F7-CB9C46D78775}"/>
              </a:ext>
            </a:extLst>
          </p:cNvPr>
          <p:cNvSpPr txBox="1">
            <a:spLocks/>
          </p:cNvSpPr>
          <p:nvPr/>
        </p:nvSpPr>
        <p:spPr>
          <a:xfrm>
            <a:off x="50800" y="619601"/>
            <a:ext cx="12192000" cy="944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000" dirty="0">
                <a:solidFill>
                  <a:srgbClr val="FFFF00"/>
                </a:solidFill>
              </a:rPr>
              <a:t>Data Analytics </a:t>
            </a:r>
            <a:r>
              <a:rPr lang="en-US" sz="4000" dirty="0"/>
              <a:t>vs.</a:t>
            </a:r>
            <a:r>
              <a:rPr lang="en-US" sz="4000" dirty="0">
                <a:solidFill>
                  <a:srgbClr val="FFFF00"/>
                </a:solidFill>
              </a:rPr>
              <a:t> Data Science</a:t>
            </a:r>
            <a:endParaRPr lang="en-US" sz="4000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9677ADDA-F1F8-5CD7-D833-F412B96F609E}"/>
              </a:ext>
            </a:extLst>
          </p:cNvPr>
          <p:cNvSpPr/>
          <p:nvPr/>
        </p:nvSpPr>
        <p:spPr>
          <a:xfrm rot="10800000">
            <a:off x="3601720" y="5328686"/>
            <a:ext cx="1828800" cy="57359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3" grpId="0"/>
      <p:bldP spid="4" grpId="0" animBg="1"/>
      <p:bldP spid="5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C5AA-D098-FA13-7A7C-38296FAB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A8C9-CAAD-F25A-2BFC-8F74BA75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7" y="533400"/>
            <a:ext cx="12192000" cy="944563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Our Dataset </a:t>
            </a:r>
            <a:r>
              <a:rPr lang="en-US" sz="4000" dirty="0"/>
              <a:t>– “Potential Giving Years”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20F06-365C-5FB1-CD7E-A8F1008E3C93}"/>
              </a:ext>
            </a:extLst>
          </p:cNvPr>
          <p:cNvSpPr txBox="1"/>
          <p:nvPr/>
        </p:nvSpPr>
        <p:spPr>
          <a:xfrm>
            <a:off x="1447800" y="1465279"/>
            <a:ext cx="967740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Five-year “snapshots” for each of our constituents (2021 – 2025)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Had to have been solicited via appeal within that year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Over </a:t>
            </a:r>
            <a:r>
              <a:rPr lang="en-US" i="1" dirty="0">
                <a:latin typeface="+mj-lt"/>
              </a:rPr>
              <a:t>4 million </a:t>
            </a:r>
            <a:r>
              <a:rPr lang="en-US" dirty="0">
                <a:latin typeface="+mj-lt"/>
              </a:rPr>
              <a:t>total records in data sample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2C0C1CB-6811-1D5E-B89D-1D07AE6A4718}"/>
              </a:ext>
            </a:extLst>
          </p:cNvPr>
          <p:cNvSpPr txBox="1">
            <a:spLocks/>
          </p:cNvSpPr>
          <p:nvPr/>
        </p:nvSpPr>
        <p:spPr>
          <a:xfrm>
            <a:off x="190500" y="3429000"/>
            <a:ext cx="12192000" cy="944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000" dirty="0">
                <a:solidFill>
                  <a:srgbClr val="FFFF00"/>
                </a:solidFill>
              </a:rPr>
              <a:t>Our Target </a:t>
            </a:r>
            <a:r>
              <a:rPr lang="en-US" sz="4000" dirty="0"/>
              <a:t>– “Did They Make a Gift (Y/N)?”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C5BAD-670C-1ADC-5641-003082629A1E}"/>
              </a:ext>
            </a:extLst>
          </p:cNvPr>
          <p:cNvSpPr txBox="1"/>
          <p:nvPr/>
        </p:nvSpPr>
        <p:spPr>
          <a:xfrm>
            <a:off x="3198138" y="4391308"/>
            <a:ext cx="5867400" cy="65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latin typeface="+mj-lt"/>
              </a:rPr>
              <a:t>Broken out into the following areas: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B29B034-BAC6-CD76-7031-A244F6DF7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462878"/>
              </p:ext>
            </p:extLst>
          </p:nvPr>
        </p:nvGraphicFramePr>
        <p:xfrm>
          <a:off x="811409" y="5257800"/>
          <a:ext cx="10640858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652">
                  <a:extLst>
                    <a:ext uri="{9D8B030D-6E8A-4147-A177-3AD203B41FA5}">
                      <a16:colId xmlns:a16="http://schemas.microsoft.com/office/drawing/2014/main" val="994118319"/>
                    </a:ext>
                  </a:extLst>
                </a:gridCol>
                <a:gridCol w="1280102">
                  <a:extLst>
                    <a:ext uri="{9D8B030D-6E8A-4147-A177-3AD203B41FA5}">
                      <a16:colId xmlns:a16="http://schemas.microsoft.com/office/drawing/2014/main" val="981811537"/>
                    </a:ext>
                  </a:extLst>
                </a:gridCol>
                <a:gridCol w="1760142">
                  <a:extLst>
                    <a:ext uri="{9D8B030D-6E8A-4147-A177-3AD203B41FA5}">
                      <a16:colId xmlns:a16="http://schemas.microsoft.com/office/drawing/2014/main" val="911213163"/>
                    </a:ext>
                  </a:extLst>
                </a:gridCol>
                <a:gridCol w="1440117">
                  <a:extLst>
                    <a:ext uri="{9D8B030D-6E8A-4147-A177-3AD203B41FA5}">
                      <a16:colId xmlns:a16="http://schemas.microsoft.com/office/drawing/2014/main" val="4022998672"/>
                    </a:ext>
                  </a:extLst>
                </a:gridCol>
                <a:gridCol w="1440117">
                  <a:extLst>
                    <a:ext uri="{9D8B030D-6E8A-4147-A177-3AD203B41FA5}">
                      <a16:colId xmlns:a16="http://schemas.microsoft.com/office/drawing/2014/main" val="599010929"/>
                    </a:ext>
                  </a:extLst>
                </a:gridCol>
                <a:gridCol w="2908728">
                  <a:extLst>
                    <a:ext uri="{9D8B030D-6E8A-4147-A177-3AD203B41FA5}">
                      <a16:colId xmlns:a16="http://schemas.microsoft.com/office/drawing/2014/main" val="3000502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General Giving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Neuro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Pediatric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Heart </a:t>
                      </a:r>
                      <a:r>
                        <a:rPr lang="en-US" sz="2400" b="0" dirty="0"/>
                        <a:t>(HVI)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Cancer</a:t>
                      </a:r>
                    </a:p>
                    <a:p>
                      <a:pPr algn="ctr"/>
                      <a:r>
                        <a:rPr lang="en-US" sz="2400" b="0" dirty="0"/>
                        <a:t>(Non Peer-to-Peer)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077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11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839EB-57CF-D2E1-E886-41089762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BDD87A-3C62-6492-0C59-6CB0657D9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987474"/>
              </p:ext>
            </p:extLst>
          </p:nvPr>
        </p:nvGraphicFramePr>
        <p:xfrm>
          <a:off x="664052" y="3276600"/>
          <a:ext cx="5245101" cy="2468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8367">
                  <a:extLst>
                    <a:ext uri="{9D8B030D-6E8A-4147-A177-3AD203B41FA5}">
                      <a16:colId xmlns:a16="http://schemas.microsoft.com/office/drawing/2014/main" val="4107620630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1201676312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520275545"/>
                    </a:ext>
                  </a:extLst>
                </a:gridCol>
              </a:tblGrid>
              <a:tr h="2450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Prospect 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Prospect </a:t>
                      </a:r>
                      <a:r>
                        <a:rPr lang="en-US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36879"/>
                  </a:ext>
                </a:extLst>
              </a:tr>
              <a:tr h="3159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271983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Made a Gift?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77399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Previous Year Giving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79686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Patient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50779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Attended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1078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7B0729-F992-B59F-3E7F-9351FD297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667852"/>
              </p:ext>
            </p:extLst>
          </p:nvPr>
        </p:nvGraphicFramePr>
        <p:xfrm>
          <a:off x="6285981" y="3267284"/>
          <a:ext cx="5245101" cy="2468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8367">
                  <a:extLst>
                    <a:ext uri="{9D8B030D-6E8A-4147-A177-3AD203B41FA5}">
                      <a16:colId xmlns:a16="http://schemas.microsoft.com/office/drawing/2014/main" val="4107620630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1201676312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520275545"/>
                    </a:ext>
                  </a:extLst>
                </a:gridCol>
              </a:tblGrid>
              <a:tr h="2450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Prospect </a:t>
                      </a:r>
                      <a:r>
                        <a:rPr lang="en-US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Prospect </a:t>
                      </a:r>
                      <a:r>
                        <a:rPr lang="en-US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36879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271983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Made a Gift?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77399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Previous Year Giving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79686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Patient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50779"/>
                  </a:ext>
                </a:extLst>
              </a:tr>
              <a:tr h="245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Attended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107882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4024D218-DEE1-6869-DD3F-BBC0B26D0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762000"/>
            <a:ext cx="12192000" cy="944563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Our </a:t>
            </a:r>
            <a:r>
              <a:rPr lang="en-US" sz="4000" dirty="0"/>
              <a:t>Supporting Data…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1CDC56-9937-5C6E-EE55-3E35D5B0E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588981"/>
              </p:ext>
            </p:extLst>
          </p:nvPr>
        </p:nvGraphicFramePr>
        <p:xfrm>
          <a:off x="1152830" y="1811118"/>
          <a:ext cx="10134772" cy="860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6586">
                  <a:extLst>
                    <a:ext uri="{9D8B030D-6E8A-4147-A177-3AD203B41FA5}">
                      <a16:colId xmlns:a16="http://schemas.microsoft.com/office/drawing/2014/main" val="994118319"/>
                    </a:ext>
                  </a:extLst>
                </a:gridCol>
                <a:gridCol w="2503411">
                  <a:extLst>
                    <a:ext uri="{9D8B030D-6E8A-4147-A177-3AD203B41FA5}">
                      <a16:colId xmlns:a16="http://schemas.microsoft.com/office/drawing/2014/main" val="981811537"/>
                    </a:ext>
                  </a:extLst>
                </a:gridCol>
                <a:gridCol w="2835125">
                  <a:extLst>
                    <a:ext uri="{9D8B030D-6E8A-4147-A177-3AD203B41FA5}">
                      <a16:colId xmlns:a16="http://schemas.microsoft.com/office/drawing/2014/main" val="911213163"/>
                    </a:ext>
                  </a:extLst>
                </a:gridCol>
                <a:gridCol w="2319650">
                  <a:extLst>
                    <a:ext uri="{9D8B030D-6E8A-4147-A177-3AD203B41FA5}">
                      <a16:colId xmlns:a16="http://schemas.microsoft.com/office/drawing/2014/main" val="4022998672"/>
                    </a:ext>
                  </a:extLst>
                </a:gridCol>
              </a:tblGrid>
              <a:tr h="86004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Past Giving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Patient Visits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Email Clicks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Event Attendance</a:t>
                      </a:r>
                      <a:endParaRPr lang="en-US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077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97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F2B02-322C-F0AE-0815-DB51DDE2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6CB38-0035-64D0-8136-33B1E42C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Past </a:t>
            </a:r>
            <a:r>
              <a:rPr lang="en-US" sz="4000" dirty="0"/>
              <a:t>Giving History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B228D-76EF-BC2F-ACA5-0F213EC3FFD7}"/>
              </a:ext>
            </a:extLst>
          </p:cNvPr>
          <p:cNvSpPr txBox="1"/>
          <p:nvPr/>
        </p:nvSpPr>
        <p:spPr>
          <a:xfrm>
            <a:off x="533400" y="2154652"/>
            <a:ext cx="6781799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R</a:t>
            </a:r>
            <a:r>
              <a:rPr lang="en-US" sz="2000" dirty="0">
                <a:latin typeface="+mj-lt"/>
              </a:rPr>
              <a:t>ecency | </a:t>
            </a:r>
            <a:r>
              <a:rPr lang="en-US" sz="2000" u="sng" dirty="0">
                <a:latin typeface="+mj-lt"/>
              </a:rPr>
              <a:t>F</a:t>
            </a:r>
            <a:r>
              <a:rPr lang="en-US" sz="2000" dirty="0">
                <a:latin typeface="+mj-lt"/>
              </a:rPr>
              <a:t>requency | </a:t>
            </a:r>
            <a:r>
              <a:rPr lang="en-US" sz="2000" u="sng" dirty="0">
                <a:latin typeface="+mj-lt"/>
              </a:rPr>
              <a:t>M</a:t>
            </a:r>
            <a:r>
              <a:rPr lang="en-US" sz="2000" dirty="0">
                <a:latin typeface="+mj-lt"/>
              </a:rPr>
              <a:t>onetary Value analysis (</a:t>
            </a:r>
            <a:r>
              <a:rPr lang="en-US" sz="2000" b="1" dirty="0">
                <a:latin typeface="+mj-lt"/>
              </a:rPr>
              <a:t>RFM</a:t>
            </a:r>
            <a:r>
              <a:rPr lang="en-US" sz="2000" dirty="0">
                <a:latin typeface="+mj-lt"/>
              </a:rPr>
              <a:t>)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R</a:t>
            </a:r>
            <a:r>
              <a:rPr lang="en-US" sz="2000" dirty="0">
                <a:latin typeface="+mj-lt"/>
              </a:rPr>
              <a:t>: Time since most recent gift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F</a:t>
            </a:r>
            <a:r>
              <a:rPr lang="en-US" sz="2000" dirty="0">
                <a:latin typeface="+mj-lt"/>
              </a:rPr>
              <a:t>: Number of past gifts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M</a:t>
            </a:r>
            <a:r>
              <a:rPr lang="en-US" sz="2000" dirty="0">
                <a:latin typeface="+mj-lt"/>
              </a:rPr>
              <a:t>: Lifetime Giving</a:t>
            </a:r>
          </a:p>
          <a:p>
            <a:pPr lvl="1" algn="l">
              <a:lnSpc>
                <a:spcPct val="150000"/>
              </a:lnSpc>
            </a:pPr>
            <a:endParaRPr lang="en-US" sz="2000" dirty="0">
              <a:latin typeface="+mj-l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Further breakouts by “recency segment”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Giving in past 0-18 months (“House donor”)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Giving in past 19-36 months (“Lapsed donor”)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Giving in past 37-60 months (“Long lapsed donor”)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C4799-BC9F-20D6-403A-A22552A3F833}"/>
              </a:ext>
            </a:extLst>
          </p:cNvPr>
          <p:cNvSpPr txBox="1"/>
          <p:nvPr/>
        </p:nvSpPr>
        <p:spPr>
          <a:xfrm>
            <a:off x="1070975" y="1347486"/>
            <a:ext cx="10439400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i="1" dirty="0">
                <a:latin typeface="+mj-lt"/>
              </a:rPr>
              <a:t>For each “potential giving year”, what did their </a:t>
            </a:r>
            <a:r>
              <a:rPr lang="en-US" i="1" u="sng" dirty="0">
                <a:latin typeface="+mj-lt"/>
              </a:rPr>
              <a:t>past giving history</a:t>
            </a:r>
            <a:r>
              <a:rPr lang="en-US" i="1" dirty="0">
                <a:latin typeface="+mj-lt"/>
              </a:rPr>
              <a:t> look like?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DD10A-3C96-B499-BC90-4E978E52E98E}"/>
              </a:ext>
            </a:extLst>
          </p:cNvPr>
          <p:cNvSpPr txBox="1"/>
          <p:nvPr/>
        </p:nvSpPr>
        <p:spPr>
          <a:xfrm>
            <a:off x="7086600" y="3638868"/>
            <a:ext cx="4800600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Other fields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Age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Region of residence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Wealth Rating (capacity)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Qualified Annual Giving (QAG)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High Annual Giving (HAG)</a:t>
            </a:r>
          </a:p>
        </p:txBody>
      </p:sp>
    </p:spTree>
    <p:extLst>
      <p:ext uri="{BB962C8B-B14F-4D97-AF65-F5344CB8AC3E}">
        <p14:creationId xmlns:p14="http://schemas.microsoft.com/office/powerpoint/2010/main" val="158875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A7C95-7211-0EC2-5B20-573018DB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47FA-85A5-080D-ED4A-4E5F180E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Patient </a:t>
            </a:r>
            <a:r>
              <a:rPr lang="en-US" sz="4000" dirty="0"/>
              <a:t>Visits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93EEF-45CE-7A85-E873-27A81A9895A5}"/>
              </a:ext>
            </a:extLst>
          </p:cNvPr>
          <p:cNvSpPr txBox="1"/>
          <p:nvPr/>
        </p:nvSpPr>
        <p:spPr>
          <a:xfrm>
            <a:off x="533400" y="2048085"/>
            <a:ext cx="6781799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R</a:t>
            </a:r>
            <a:r>
              <a:rPr lang="en-US" sz="2000" dirty="0">
                <a:latin typeface="+mj-lt"/>
              </a:rPr>
              <a:t>ecency | </a:t>
            </a:r>
            <a:r>
              <a:rPr lang="en-US" sz="2000" u="sng" dirty="0">
                <a:latin typeface="+mj-lt"/>
              </a:rPr>
              <a:t>F</a:t>
            </a:r>
            <a:r>
              <a:rPr lang="en-US" sz="2000" dirty="0">
                <a:latin typeface="+mj-lt"/>
              </a:rPr>
              <a:t>requency analysis 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R</a:t>
            </a:r>
            <a:r>
              <a:rPr lang="en-US" sz="2000" dirty="0">
                <a:latin typeface="+mj-lt"/>
              </a:rPr>
              <a:t>: Time since most recent </a:t>
            </a:r>
            <a:r>
              <a:rPr lang="en-US" sz="2000" i="1" dirty="0">
                <a:latin typeface="+mj-lt"/>
              </a:rPr>
              <a:t>visit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F</a:t>
            </a:r>
            <a:r>
              <a:rPr lang="en-US" sz="2000" dirty="0">
                <a:latin typeface="+mj-lt"/>
              </a:rPr>
              <a:t>: Number of past </a:t>
            </a:r>
            <a:r>
              <a:rPr lang="en-US" sz="2000" i="1" dirty="0">
                <a:latin typeface="+mj-lt"/>
              </a:rPr>
              <a:t>visits</a:t>
            </a:r>
          </a:p>
          <a:p>
            <a:pPr lvl="1" algn="l">
              <a:lnSpc>
                <a:spcPct val="150000"/>
              </a:lnSpc>
            </a:pPr>
            <a:endParaRPr lang="en-US" sz="2000" dirty="0">
              <a:latin typeface="+mj-l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Further breakouts by patient “recency segment”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Appts in past 0-18 months (“Recent patient”)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Appts in past 19-36 months (“Lapsed patient”)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Appts in past 37-60 months (“Long lapsed patient”)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CAB6D-30F6-D92B-4382-41BA5A506307}"/>
              </a:ext>
            </a:extLst>
          </p:cNvPr>
          <p:cNvSpPr txBox="1"/>
          <p:nvPr/>
        </p:nvSpPr>
        <p:spPr>
          <a:xfrm>
            <a:off x="573587" y="1285349"/>
            <a:ext cx="11095625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i="1" dirty="0">
                <a:latin typeface="+mj-lt"/>
              </a:rPr>
              <a:t>For each “potential giving year”, what did their past </a:t>
            </a:r>
            <a:r>
              <a:rPr lang="en-US" i="1" u="sng" dirty="0">
                <a:latin typeface="+mj-lt"/>
              </a:rPr>
              <a:t>patient experience</a:t>
            </a:r>
            <a:r>
              <a:rPr lang="en-US" i="1" dirty="0">
                <a:latin typeface="+mj-lt"/>
              </a:rPr>
              <a:t> look like?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4A747-E9E1-35A7-9D0B-839645F02030}"/>
              </a:ext>
            </a:extLst>
          </p:cNvPr>
          <p:cNvSpPr txBox="1"/>
          <p:nvPr/>
        </p:nvSpPr>
        <p:spPr>
          <a:xfrm>
            <a:off x="6903059" y="2064899"/>
            <a:ext cx="4800600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Further breakouts by: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Inpatient</a:t>
            </a:r>
            <a:r>
              <a:rPr lang="en-US" sz="2000" dirty="0">
                <a:latin typeface="+mj-lt"/>
              </a:rPr>
              <a:t> visits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Surgeon</a:t>
            </a:r>
            <a:r>
              <a:rPr lang="en-US" sz="2000" dirty="0">
                <a:latin typeface="+mj-lt"/>
              </a:rPr>
              <a:t> visits</a:t>
            </a:r>
          </a:p>
          <a:p>
            <a:pPr lvl="1" algn="l">
              <a:lnSpc>
                <a:spcPct val="150000"/>
              </a:lnSpc>
            </a:pPr>
            <a:endParaRPr lang="en-US" sz="2000" dirty="0">
              <a:latin typeface="+mj-lt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Other fields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Primary visit location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Presence of child in household</a:t>
            </a:r>
          </a:p>
        </p:txBody>
      </p:sp>
    </p:spTree>
    <p:extLst>
      <p:ext uri="{BB962C8B-B14F-4D97-AF65-F5344CB8AC3E}">
        <p14:creationId xmlns:p14="http://schemas.microsoft.com/office/powerpoint/2010/main" val="214607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DBFD7-EC81-B539-F8DB-22FF2630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71A1-152A-2D7B-E282-6B794CA1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Email </a:t>
            </a:r>
            <a:r>
              <a:rPr lang="en-US" sz="4000" dirty="0"/>
              <a:t>Clicks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1E392E-8C59-DCA6-2A7C-70BA076020AE}"/>
              </a:ext>
            </a:extLst>
          </p:cNvPr>
          <p:cNvSpPr txBox="1"/>
          <p:nvPr/>
        </p:nvSpPr>
        <p:spPr>
          <a:xfrm>
            <a:off x="3276600" y="2261307"/>
            <a:ext cx="6781799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R</a:t>
            </a:r>
            <a:r>
              <a:rPr lang="en-US" sz="2000" dirty="0">
                <a:latin typeface="+mj-lt"/>
              </a:rPr>
              <a:t>ecency | </a:t>
            </a:r>
            <a:r>
              <a:rPr lang="en-US" sz="2000" u="sng" dirty="0">
                <a:latin typeface="+mj-lt"/>
              </a:rPr>
              <a:t>F</a:t>
            </a:r>
            <a:r>
              <a:rPr lang="en-US" sz="2000" dirty="0">
                <a:latin typeface="+mj-lt"/>
              </a:rPr>
              <a:t>requency analysis 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R</a:t>
            </a:r>
            <a:r>
              <a:rPr lang="en-US" sz="2000" dirty="0">
                <a:latin typeface="+mj-lt"/>
              </a:rPr>
              <a:t>: Time since most recent </a:t>
            </a:r>
            <a:r>
              <a:rPr lang="en-US" sz="2000" i="1" dirty="0">
                <a:latin typeface="+mj-lt"/>
              </a:rPr>
              <a:t>click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+mj-lt"/>
              </a:rPr>
              <a:t>F</a:t>
            </a:r>
            <a:r>
              <a:rPr lang="en-US" sz="2000" dirty="0">
                <a:latin typeface="+mj-lt"/>
              </a:rPr>
              <a:t>: Number of past </a:t>
            </a:r>
            <a:r>
              <a:rPr lang="en-US" sz="2000" i="1" dirty="0">
                <a:latin typeface="+mj-lt"/>
              </a:rPr>
              <a:t>clicks</a:t>
            </a:r>
          </a:p>
          <a:p>
            <a:pPr lvl="1" algn="l">
              <a:lnSpc>
                <a:spcPct val="150000"/>
              </a:lnSpc>
            </a:pPr>
            <a:endParaRPr lang="en-US" sz="2000" dirty="0">
              <a:latin typeface="+mj-l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Further breakouts by email “recency segment”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Clicks in past 0-18 months (“Recent”)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Click in past 19-36 months (“Lapsed”)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Click in past 37-60 months (“Long lapsed”)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E2AB9-C992-C8FD-442F-1E118083ECB0}"/>
              </a:ext>
            </a:extLst>
          </p:cNvPr>
          <p:cNvSpPr txBox="1"/>
          <p:nvPr/>
        </p:nvSpPr>
        <p:spPr>
          <a:xfrm>
            <a:off x="573587" y="1285349"/>
            <a:ext cx="11618413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i="1" dirty="0">
                <a:latin typeface="+mj-lt"/>
              </a:rPr>
              <a:t>For each “potential giving year”, what </a:t>
            </a:r>
            <a:r>
              <a:rPr lang="en-US" i="1" u="sng" dirty="0">
                <a:latin typeface="+mj-lt"/>
              </a:rPr>
              <a:t>emails were they clicking</a:t>
            </a:r>
            <a:r>
              <a:rPr lang="en-US" i="1" dirty="0">
                <a:latin typeface="+mj-lt"/>
              </a:rPr>
              <a:t> on and how often?</a:t>
            </a:r>
          </a:p>
        </p:txBody>
      </p:sp>
    </p:spTree>
    <p:extLst>
      <p:ext uri="{BB962C8B-B14F-4D97-AF65-F5344CB8AC3E}">
        <p14:creationId xmlns:p14="http://schemas.microsoft.com/office/powerpoint/2010/main" val="1566740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820B-19C8-DEC3-9077-BF816CA0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5628-6748-D01E-EC0F-20CC92E18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Event </a:t>
            </a:r>
            <a:r>
              <a:rPr lang="en-US" sz="4000" dirty="0"/>
              <a:t>Attendance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7753D-C851-7C7F-D314-CA0D94B752B7}"/>
              </a:ext>
            </a:extLst>
          </p:cNvPr>
          <p:cNvSpPr txBox="1"/>
          <p:nvPr/>
        </p:nvSpPr>
        <p:spPr>
          <a:xfrm>
            <a:off x="762000" y="2293928"/>
            <a:ext cx="5845393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Attended event in past? (Y/N)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Number of past events attended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Time since last event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i="1" dirty="0">
              <a:latin typeface="+mj-lt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Breakouts by area: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Neuro (Power of Love, etc.)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Pediatric (Derby Day, Gala, etc.)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000CA-8BAE-9DEB-47CD-F7E1DE5A4A0A}"/>
              </a:ext>
            </a:extLst>
          </p:cNvPr>
          <p:cNvSpPr txBox="1"/>
          <p:nvPr/>
        </p:nvSpPr>
        <p:spPr>
          <a:xfrm>
            <a:off x="1607593" y="1331124"/>
            <a:ext cx="9027613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i="1" dirty="0">
                <a:latin typeface="+mj-lt"/>
              </a:rPr>
              <a:t>For each “potential giving year”, what </a:t>
            </a:r>
            <a:r>
              <a:rPr lang="en-US" i="1" u="sng" dirty="0">
                <a:latin typeface="+mj-lt"/>
              </a:rPr>
              <a:t>events</a:t>
            </a:r>
            <a:r>
              <a:rPr lang="en-US" i="1" dirty="0">
                <a:latin typeface="+mj-lt"/>
              </a:rPr>
              <a:t> had they attended?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D615A-1BBD-0DF5-E954-707CBF4ED3EB}"/>
              </a:ext>
            </a:extLst>
          </p:cNvPr>
          <p:cNvSpPr txBox="1"/>
          <p:nvPr/>
        </p:nvSpPr>
        <p:spPr>
          <a:xfrm>
            <a:off x="6248400" y="2293928"/>
            <a:ext cx="6225434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VeloSano</a:t>
            </a:r>
            <a:r>
              <a:rPr lang="en-US" dirty="0">
                <a:latin typeface="+mj-lt"/>
              </a:rPr>
              <a:t> breakouts: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Past rider/virtual fundraiser? (Y/N)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# of past years participated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Past total raised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Past number of donations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Historical % to goal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Years since last participation</a:t>
            </a:r>
          </a:p>
        </p:txBody>
      </p:sp>
    </p:spTree>
    <p:extLst>
      <p:ext uri="{BB962C8B-B14F-4D97-AF65-F5344CB8AC3E}">
        <p14:creationId xmlns:p14="http://schemas.microsoft.com/office/powerpoint/2010/main" val="300002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D321-167A-8C57-09C1-C36DD250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B847-8206-4340-7C0D-9D7BD31A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2103437"/>
            <a:ext cx="12192000" cy="1325563"/>
          </a:xfrm>
        </p:spPr>
        <p:txBody>
          <a:bodyPr/>
          <a:lstStyle/>
          <a:p>
            <a:r>
              <a:rPr lang="en-US" sz="4400" dirty="0">
                <a:ea typeface="+mj-lt"/>
                <a:cs typeface="+mj-lt"/>
              </a:rPr>
              <a:t>Part II:</a:t>
            </a:r>
            <a:br>
              <a:rPr lang="en-US" sz="4400" dirty="0">
                <a:solidFill>
                  <a:srgbClr val="FFFF00"/>
                </a:solidFill>
                <a:ea typeface="+mj-lt"/>
                <a:cs typeface="+mj-lt"/>
              </a:rPr>
            </a:br>
            <a:r>
              <a:rPr lang="en-US" sz="4400" b="1" dirty="0">
                <a:solidFill>
                  <a:srgbClr val="FFFF00"/>
                </a:solidFill>
                <a:ea typeface="+mj-lt"/>
                <a:cs typeface="+mj-lt"/>
              </a:rPr>
              <a:t>Reviewing Our Findings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6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956B-6652-82E3-DCDD-015FD56D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12201-AE1E-AB83-96CC-06DE1FD6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4000" dirty="0"/>
              <a:t>1. Past Giving History is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3F408-8BBE-6F5E-FC66-21612F173D65}"/>
              </a:ext>
            </a:extLst>
          </p:cNvPr>
          <p:cNvSpPr txBox="1"/>
          <p:nvPr/>
        </p:nvSpPr>
        <p:spPr>
          <a:xfrm>
            <a:off x="1064712" y="1447800"/>
            <a:ext cx="1043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</a:rPr>
              <a:t>The single best predictor of someone making a gift this year, is if they’ve made a gift in a previous year.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1D681B-ACC0-947E-7869-1BDDBBA432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2622167"/>
            <a:ext cx="6019800" cy="361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8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8E838-ADD5-1D6C-9C78-ACF92BF8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4E3C-8D15-5D26-95C5-FF2398B4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4000" dirty="0"/>
              <a:t>1. Past Giving History is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39818-AFAF-427C-D1F8-58498F496FD8}"/>
              </a:ext>
            </a:extLst>
          </p:cNvPr>
          <p:cNvSpPr txBox="1"/>
          <p:nvPr/>
        </p:nvSpPr>
        <p:spPr>
          <a:xfrm>
            <a:off x="1064712" y="1447800"/>
            <a:ext cx="1043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</a:rPr>
              <a:t>Conversely, the best predictor of someone </a:t>
            </a:r>
            <a:r>
              <a:rPr lang="en-US" i="1" u="sng" dirty="0">
                <a:latin typeface="+mj-lt"/>
              </a:rPr>
              <a:t>not</a:t>
            </a:r>
            <a:r>
              <a:rPr lang="en-US" i="1" dirty="0">
                <a:latin typeface="+mj-lt"/>
              </a:rPr>
              <a:t> making a gift this year is if they’ve haven’t made a gift in the past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3FE46F-F546-2A0A-0EA2-996C7765A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899331"/>
              </p:ext>
            </p:extLst>
          </p:nvPr>
        </p:nvGraphicFramePr>
        <p:xfrm>
          <a:off x="775570" y="2819400"/>
          <a:ext cx="10640859" cy="3078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77040993"/>
                    </a:ext>
                  </a:extLst>
                </a:gridCol>
                <a:gridCol w="1343568">
                  <a:extLst>
                    <a:ext uri="{9D8B030D-6E8A-4147-A177-3AD203B41FA5}">
                      <a16:colId xmlns:a16="http://schemas.microsoft.com/office/drawing/2014/main" val="994118319"/>
                    </a:ext>
                  </a:extLst>
                </a:gridCol>
                <a:gridCol w="1093867">
                  <a:extLst>
                    <a:ext uri="{9D8B030D-6E8A-4147-A177-3AD203B41FA5}">
                      <a16:colId xmlns:a16="http://schemas.microsoft.com/office/drawing/2014/main" val="981811537"/>
                    </a:ext>
                  </a:extLst>
                </a:gridCol>
                <a:gridCol w="1504068">
                  <a:extLst>
                    <a:ext uri="{9D8B030D-6E8A-4147-A177-3AD203B41FA5}">
                      <a16:colId xmlns:a16="http://schemas.microsoft.com/office/drawing/2014/main" val="911213163"/>
                    </a:ext>
                  </a:extLst>
                </a:gridCol>
                <a:gridCol w="1230602">
                  <a:extLst>
                    <a:ext uri="{9D8B030D-6E8A-4147-A177-3AD203B41FA5}">
                      <a16:colId xmlns:a16="http://schemas.microsoft.com/office/drawing/2014/main" val="4022998672"/>
                    </a:ext>
                  </a:extLst>
                </a:gridCol>
                <a:gridCol w="1443725">
                  <a:extLst>
                    <a:ext uri="{9D8B030D-6E8A-4147-A177-3AD203B41FA5}">
                      <a16:colId xmlns:a16="http://schemas.microsoft.com/office/drawing/2014/main" val="599010929"/>
                    </a:ext>
                  </a:extLst>
                </a:gridCol>
                <a:gridCol w="2272429">
                  <a:extLst>
                    <a:ext uri="{9D8B030D-6E8A-4147-A177-3AD203B41FA5}">
                      <a16:colId xmlns:a16="http://schemas.microsoft.com/office/drawing/2014/main" val="3000502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General Giving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Neuro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Pediatric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Heart </a:t>
                      </a:r>
                      <a:r>
                        <a:rPr lang="en-US" sz="2400" b="0" dirty="0"/>
                        <a:t>(HVI)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Cancer</a:t>
                      </a:r>
                    </a:p>
                    <a:p>
                      <a:pPr algn="ctr"/>
                      <a:r>
                        <a:rPr lang="en-US" sz="2400" b="0" dirty="0"/>
                        <a:t>(Non Peer-to-Peer)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0772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Top Correlating Variable - </a:t>
                      </a:r>
                      <a:r>
                        <a:rPr lang="en-US" sz="16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House Donor </a:t>
                      </a:r>
                      <a:r>
                        <a:rPr lang="en-US" sz="1400" b="1" dirty="0"/>
                        <a:t>(34.2%)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Neuro Gifts, Last 18 Months </a:t>
                      </a:r>
                      <a:r>
                        <a:rPr lang="en-US" sz="1400" b="1" dirty="0"/>
                        <a:t>(26.6%)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Pediatric House Donor </a:t>
                      </a:r>
                      <a:r>
                        <a:rPr lang="en-US" sz="1400" b="1" dirty="0"/>
                        <a:t>(21.5%)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Heart Gifts, Last 18 Months </a:t>
                      </a:r>
                      <a:r>
                        <a:rPr lang="en-US" sz="1400" b="1" dirty="0"/>
                        <a:t>(21.8%)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Cancer House Donor </a:t>
                      </a:r>
                      <a:r>
                        <a:rPr lang="en-US" sz="1400" b="1" dirty="0"/>
                        <a:t>(29.8%)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Cancer House Donor </a:t>
                      </a:r>
                      <a:r>
                        <a:rPr lang="en-US" sz="1400" b="1" dirty="0"/>
                        <a:t>(20.4%)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37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Top Correlating Variable -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No Prior Donations </a:t>
                      </a:r>
                    </a:p>
                    <a:p>
                      <a:pPr algn="ctr"/>
                      <a:r>
                        <a:rPr lang="en-US" sz="1400" b="1" dirty="0"/>
                        <a:t>(-32.8%)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No Neuro Donations </a:t>
                      </a:r>
                    </a:p>
                    <a:p>
                      <a:pPr algn="ctr"/>
                      <a:r>
                        <a:rPr lang="en-US" sz="1400" b="1" dirty="0"/>
                        <a:t>(-25.0%)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No Prior Pediatric Donations </a:t>
                      </a:r>
                    </a:p>
                    <a:p>
                      <a:pPr algn="ctr"/>
                      <a:r>
                        <a:rPr lang="en-US" sz="1400" b="1" dirty="0"/>
                        <a:t>(-21.1%)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No Heart Donations </a:t>
                      </a:r>
                    </a:p>
                    <a:p>
                      <a:pPr algn="ctr"/>
                      <a:r>
                        <a:rPr lang="en-US" sz="1400" b="1" dirty="0"/>
                        <a:t>(-16.7%)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Years Since Last </a:t>
                      </a:r>
                      <a:r>
                        <a:rPr lang="en-US" sz="1400" b="0" dirty="0" err="1"/>
                        <a:t>VeloSano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1" dirty="0"/>
                        <a:t>(-34.9%)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No Prior Cancer Donations </a:t>
                      </a:r>
                    </a:p>
                    <a:p>
                      <a:pPr algn="ctr"/>
                      <a:r>
                        <a:rPr lang="en-US" sz="1400" b="1" dirty="0"/>
                        <a:t>(-18.4%)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338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162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C5BE-D391-88E6-B497-742E2C000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49AC-C8C1-7CEA-5F4D-3043D709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3600" dirty="0"/>
              <a:t>2. “Recency” and “Frequency” trump “Monetary Value”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C5343-BD6B-70DC-A671-23DDB12EAC87}"/>
              </a:ext>
            </a:extLst>
          </p:cNvPr>
          <p:cNvSpPr txBox="1"/>
          <p:nvPr/>
        </p:nvSpPr>
        <p:spPr>
          <a:xfrm>
            <a:off x="901700" y="1447800"/>
            <a:ext cx="1043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</a:rPr>
              <a:t>“Number of gifts made” and “time since most recent gift” are more important than lifetime giving.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12A146-3671-4B74-92C5-89A0585A6E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514600"/>
            <a:ext cx="5961803" cy="357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01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AEB0-8D57-93F2-813D-1F0341F4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4BE6-FCB5-70A9-6AE0-E36CEA29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3600" dirty="0"/>
              <a:t>3. The “Recency” bump tails off hard after 18 months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AED53-79C1-19D7-6AEF-EA325E9D20D5}"/>
              </a:ext>
            </a:extLst>
          </p:cNvPr>
          <p:cNvSpPr txBox="1"/>
          <p:nvPr/>
        </p:nvSpPr>
        <p:spPr>
          <a:xfrm>
            <a:off x="901700" y="1447800"/>
            <a:ext cx="10439400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+mj-lt"/>
              </a:rPr>
              <a:t>Likelihood to give tapers off hard after 18 months since a donor’s last gift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E1C01-19EC-554E-77A2-CE14FF9B32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355326"/>
            <a:ext cx="6422283" cy="385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10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B1C0F-CADB-E775-DB90-BE0742DA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1EBC-BC97-8C89-6502-73942C65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449554"/>
            <a:ext cx="12192000" cy="944563"/>
          </a:xfrm>
        </p:spPr>
        <p:txBody>
          <a:bodyPr/>
          <a:lstStyle/>
          <a:p>
            <a:r>
              <a:rPr lang="en-US" sz="3200" dirty="0"/>
              <a:t>5. Cancer donors look way different… </a:t>
            </a:r>
            <a:br>
              <a:rPr lang="en-US" sz="3200" dirty="0"/>
            </a:br>
            <a:r>
              <a:rPr lang="en-US" sz="3200" dirty="0"/>
              <a:t>until you remove peer-to-peer gifts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A2BA-287A-5469-99B3-58B4E9329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71"/>
          <a:stretch>
            <a:fillRect/>
          </a:stretch>
        </p:blipFill>
        <p:spPr>
          <a:xfrm>
            <a:off x="396240" y="1752600"/>
            <a:ext cx="6842759" cy="46558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131D4-C937-F1B6-35BD-5BA72D280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75"/>
          <a:stretch>
            <a:fillRect/>
          </a:stretch>
        </p:blipFill>
        <p:spPr>
          <a:xfrm>
            <a:off x="396240" y="1754118"/>
            <a:ext cx="6934200" cy="4689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06C1C7-5090-3FEA-5E8C-5CCED545D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75"/>
          <a:stretch>
            <a:fillRect/>
          </a:stretch>
        </p:blipFill>
        <p:spPr>
          <a:xfrm>
            <a:off x="487681" y="1780404"/>
            <a:ext cx="6842759" cy="4628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43243-2214-9CB9-ACF5-783FD0619A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28366"/>
            <a:ext cx="8417009" cy="47321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2E1F90-4FBD-02E7-D8BD-C6BE820F7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71" y="1656911"/>
            <a:ext cx="8671198" cy="487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1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DB93-2156-0F8B-AC1E-B28FFEA4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A5A2-1A59-8232-7C17-C53047D7F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133600"/>
            <a:ext cx="12192000" cy="944563"/>
          </a:xfrm>
        </p:spPr>
        <p:txBody>
          <a:bodyPr/>
          <a:lstStyle/>
          <a:p>
            <a:r>
              <a:rPr lang="en-US" sz="3600" dirty="0"/>
              <a:t>4. Donors tend to find a giving area and stick with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7173E-4084-BFC7-BDD7-DED90AB977F1}"/>
              </a:ext>
            </a:extLst>
          </p:cNvPr>
          <p:cNvSpPr txBox="1"/>
          <p:nvPr/>
        </p:nvSpPr>
        <p:spPr>
          <a:xfrm>
            <a:off x="1028700" y="2961799"/>
            <a:ext cx="1043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</a:rPr>
              <a:t>Giving to one interest area tends to </a:t>
            </a:r>
            <a:r>
              <a:rPr lang="en-US" i="1" u="sng" dirty="0">
                <a:latin typeface="+mj-lt"/>
              </a:rPr>
              <a:t>not</a:t>
            </a:r>
            <a:r>
              <a:rPr lang="en-US" i="1" dirty="0">
                <a:latin typeface="+mj-lt"/>
              </a:rPr>
              <a:t> correlate </a:t>
            </a:r>
          </a:p>
          <a:p>
            <a:r>
              <a:rPr lang="en-US" i="1" dirty="0">
                <a:latin typeface="+mj-lt"/>
              </a:rPr>
              <a:t>with giving to a different interest area</a:t>
            </a:r>
          </a:p>
        </p:txBody>
      </p:sp>
    </p:spTree>
    <p:extLst>
      <p:ext uri="{BB962C8B-B14F-4D97-AF65-F5344CB8AC3E}">
        <p14:creationId xmlns:p14="http://schemas.microsoft.com/office/powerpoint/2010/main" val="3630627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DBDE-C616-BE1E-1AE9-9785388C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F264-6550-5D27-2CF7-1C8C2D4A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0"/>
            <a:ext cx="12192000" cy="944563"/>
          </a:xfrm>
        </p:spPr>
        <p:txBody>
          <a:bodyPr/>
          <a:lstStyle/>
          <a:p>
            <a:r>
              <a:rPr lang="en-US" sz="3200" dirty="0"/>
              <a:t>6. Patient variables work on a smaller scale…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E3B4E-A8F4-10DC-4CBF-CFF6CC79272D}"/>
              </a:ext>
            </a:extLst>
          </p:cNvPr>
          <p:cNvSpPr txBox="1"/>
          <p:nvPr/>
        </p:nvSpPr>
        <p:spPr>
          <a:xfrm>
            <a:off x="901700" y="3403600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+mj-lt"/>
              </a:rPr>
              <a:t>Recency of patient visits follows a similar pattern as recency of giving, </a:t>
            </a:r>
          </a:p>
          <a:p>
            <a:r>
              <a:rPr lang="en-US" sz="2000" i="1" dirty="0">
                <a:latin typeface="+mj-lt"/>
              </a:rPr>
              <a:t>albeit at a smaller correlation.</a:t>
            </a:r>
          </a:p>
        </p:txBody>
      </p:sp>
    </p:spTree>
    <p:extLst>
      <p:ext uri="{BB962C8B-B14F-4D97-AF65-F5344CB8AC3E}">
        <p14:creationId xmlns:p14="http://schemas.microsoft.com/office/powerpoint/2010/main" val="3025718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8F43-3120-EB95-DE33-6DD3FE3A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7779-04A6-58BA-4BA6-CB276B7F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0" y="2362200"/>
            <a:ext cx="12192000" cy="944563"/>
          </a:xfrm>
        </p:spPr>
        <p:txBody>
          <a:bodyPr/>
          <a:lstStyle/>
          <a:p>
            <a:r>
              <a:rPr lang="en-US" sz="3200" dirty="0"/>
              <a:t>7. …and so do email clicks</a:t>
            </a:r>
          </a:p>
        </p:txBody>
      </p:sp>
    </p:spTree>
    <p:extLst>
      <p:ext uri="{BB962C8B-B14F-4D97-AF65-F5344CB8AC3E}">
        <p14:creationId xmlns:p14="http://schemas.microsoft.com/office/powerpoint/2010/main" val="3102776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364C-5082-6A7D-D3D0-FE3C36CB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E683-ED2F-08E3-5538-D93DD75B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3200" dirty="0"/>
              <a:t>8. Capacity didn’t correlate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54B34-006B-40CE-46AE-2E58A695D1D6}"/>
              </a:ext>
            </a:extLst>
          </p:cNvPr>
          <p:cNvSpPr txBox="1"/>
          <p:nvPr/>
        </p:nvSpPr>
        <p:spPr>
          <a:xfrm>
            <a:off x="901700" y="1447800"/>
            <a:ext cx="10439400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+mj-lt"/>
              </a:rPr>
              <a:t>Wealth Rating by itself is not a useful predicter for individual giving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10B97-B6F7-0025-CB7B-ADC055EE8E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013" y="2286000"/>
            <a:ext cx="6173973" cy="37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20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B6B0-244F-16CE-C11C-4E0B37EF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BE9D-E10A-A876-515C-708A6FF3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3200" dirty="0"/>
              <a:t>9. Neither did High or Qualified Annual 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2F448-890A-B00E-D457-34FE196BD4BA}"/>
              </a:ext>
            </a:extLst>
          </p:cNvPr>
          <p:cNvSpPr txBox="1"/>
          <p:nvPr/>
        </p:nvSpPr>
        <p:spPr>
          <a:xfrm>
            <a:off x="901700" y="1447800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+mj-lt"/>
              </a:rPr>
              <a:t>…and neither is High Annual Giving (HAG)</a:t>
            </a:r>
          </a:p>
          <a:p>
            <a:r>
              <a:rPr lang="en-US" sz="2000" i="1" dirty="0">
                <a:latin typeface="+mj-lt"/>
              </a:rPr>
              <a:t>(Qualified Annual Giving is slightly more useful)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36E3C-C782-FDD4-B08B-653024081A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590800"/>
            <a:ext cx="5715000" cy="34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9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3C99-FC0E-9873-BC96-8893310C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CC19-692D-EDC6-2F55-3C3F6AB1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619601"/>
            <a:ext cx="12192000" cy="944563"/>
          </a:xfrm>
        </p:spPr>
        <p:txBody>
          <a:bodyPr/>
          <a:lstStyle/>
          <a:p>
            <a:r>
              <a:rPr lang="en-US" sz="3200" dirty="0"/>
              <a:t>10. Other interesting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355B7-6E51-08D5-30A6-8AF58DAC62C2}"/>
              </a:ext>
            </a:extLst>
          </p:cNvPr>
          <p:cNvSpPr txBox="1"/>
          <p:nvPr/>
        </p:nvSpPr>
        <p:spPr>
          <a:xfrm>
            <a:off x="876300" y="1676400"/>
            <a:ext cx="10439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Individuals who made a “nontraditional gift” in the past (not a check, credit card, or cash) were 10% more likely to make a gift again in the future.</a:t>
            </a:r>
          </a:p>
          <a:p>
            <a:pPr algn="l"/>
            <a:endParaRPr lang="en-US" dirty="0"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Vegas donors and patients are 10% more likely to donate to Neurology.</a:t>
            </a:r>
          </a:p>
          <a:p>
            <a:pPr algn="l"/>
            <a:endParaRPr lang="en-US" dirty="0"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Past cancer patients were 10% more likely to make a non peer-to-peer gift to Cancer.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Past pediatric event attendees were 10% more likely to make a gift to Pediatric again.</a:t>
            </a:r>
          </a:p>
        </p:txBody>
      </p:sp>
    </p:spTree>
    <p:extLst>
      <p:ext uri="{BB962C8B-B14F-4D97-AF65-F5344CB8AC3E}">
        <p14:creationId xmlns:p14="http://schemas.microsoft.com/office/powerpoint/2010/main" val="2111464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F344-E935-C35E-2087-5C771415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B0A6-B96A-B885-2D87-D807CAD1B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2103437"/>
            <a:ext cx="12192000" cy="1325563"/>
          </a:xfrm>
        </p:spPr>
        <p:txBody>
          <a:bodyPr/>
          <a:lstStyle/>
          <a:p>
            <a:r>
              <a:rPr lang="en-US" sz="4400" dirty="0">
                <a:ea typeface="+mj-lt"/>
                <a:cs typeface="+mj-lt"/>
              </a:rPr>
              <a:t>Part III:</a:t>
            </a:r>
            <a:br>
              <a:rPr lang="en-US" sz="4400" dirty="0">
                <a:solidFill>
                  <a:srgbClr val="FFFF00"/>
                </a:solidFill>
                <a:ea typeface="+mj-lt"/>
                <a:cs typeface="+mj-lt"/>
              </a:rPr>
            </a:br>
            <a:r>
              <a:rPr lang="en-US" sz="4400" b="1" dirty="0">
                <a:solidFill>
                  <a:srgbClr val="FFFF00"/>
                </a:solidFill>
                <a:ea typeface="+mj-lt"/>
                <a:cs typeface="+mj-lt"/>
              </a:rPr>
              <a:t>Building Predictive Models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878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509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D0E7"/>
      </a:accent1>
      <a:accent2>
        <a:srgbClr val="0877BC"/>
      </a:accent2>
      <a:accent3>
        <a:srgbClr val="F79647"/>
      </a:accent3>
      <a:accent4>
        <a:srgbClr val="F8C946"/>
      </a:accent4>
      <a:accent5>
        <a:srgbClr val="DBDBDB"/>
      </a:accent5>
      <a:accent6>
        <a:srgbClr val="1EC85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C Template in masters.potx" id="{8ED1902E-83D6-4A10-ACD8-633C42C42CA0}" vid="{1DE40352-50BB-4BDA-BBD3-5BF4501393EE}"/>
    </a:ext>
  </a:extLst>
</a:theme>
</file>

<file path=ppt/theme/theme2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D0E7"/>
      </a:accent1>
      <a:accent2>
        <a:srgbClr val="0877BC"/>
      </a:accent2>
      <a:accent3>
        <a:srgbClr val="F79647"/>
      </a:accent3>
      <a:accent4>
        <a:srgbClr val="F8C946"/>
      </a:accent4>
      <a:accent5>
        <a:srgbClr val="DBDBDB"/>
      </a:accent5>
      <a:accent6>
        <a:srgbClr val="1EC85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C Template in masters.potx" id="{8ED1902E-83D6-4A10-ACD8-633C42C42CA0}" vid="{1DE40352-50BB-4BDA-BBD3-5BF4501393EE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21245</TotalTime>
  <Words>1226</Words>
  <Application>Microsoft Office PowerPoint</Application>
  <PresentationFormat>Widescreen</PresentationFormat>
  <Paragraphs>228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Tableau Book</vt:lpstr>
      <vt:lpstr>Office Theme</vt:lpstr>
      <vt:lpstr>1_Office Theme</vt:lpstr>
      <vt:lpstr>Email Area of Interest  Modeling Discussion</vt:lpstr>
      <vt:lpstr>Overview of the Data Science Process</vt:lpstr>
      <vt:lpstr>Part I: Setting Up Our Exploration</vt:lpstr>
      <vt:lpstr>Data Analysis</vt:lpstr>
      <vt:lpstr>Our Dataset – “Potential Giving Years”</vt:lpstr>
      <vt:lpstr>Our Supporting Data…</vt:lpstr>
      <vt:lpstr>Past Giving History</vt:lpstr>
      <vt:lpstr>Patient Visits</vt:lpstr>
      <vt:lpstr>Email Clicks</vt:lpstr>
      <vt:lpstr>Event Attendance</vt:lpstr>
      <vt:lpstr>Part II: Reviewing Our Findings</vt:lpstr>
      <vt:lpstr>1. Past Giving History is King</vt:lpstr>
      <vt:lpstr>1. Past Giving History is King</vt:lpstr>
      <vt:lpstr>2. “Recency” and “Frequency” trump “Monetary Value”</vt:lpstr>
      <vt:lpstr>3. The “Recency” bump tails off hard after 18 months</vt:lpstr>
      <vt:lpstr>5. Cancer donors look way different…  until you remove peer-to-peer gifts</vt:lpstr>
      <vt:lpstr>4. Donors tend to find a giving area and stick with it</vt:lpstr>
      <vt:lpstr>6. Patient variables work on a smaller scale…</vt:lpstr>
      <vt:lpstr>7. …and so do email clicks</vt:lpstr>
      <vt:lpstr>8. Capacity didn’t correlate</vt:lpstr>
      <vt:lpstr>9. Neither did High or Qualified Annual Giving</vt:lpstr>
      <vt:lpstr>10. Other interesting findings</vt:lpstr>
      <vt:lpstr>Part III: Building Predictive Models</vt:lpstr>
      <vt:lpstr>PowerPoint Presentation</vt:lpstr>
    </vt:vector>
  </TitlesOfParts>
  <Company>Cleveland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Zwischenberger, Andrea</dc:creator>
  <cp:lastModifiedBy>Gutierrez, Andrew</cp:lastModifiedBy>
  <cp:revision>978</cp:revision>
  <cp:lastPrinted>2017-04-12T17:53:22Z</cp:lastPrinted>
  <dcterms:created xsi:type="dcterms:W3CDTF">2014-09-17T14:05:31Z</dcterms:created>
  <dcterms:modified xsi:type="dcterms:W3CDTF">2026-05-04T18:19:51Z</dcterms:modified>
</cp:coreProperties>
</file>